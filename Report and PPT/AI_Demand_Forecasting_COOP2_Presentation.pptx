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AI-Driven Demand Forecasting Model for Micro-Retailers Using Machine Learning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Ayush — 2210991415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Diya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 — 2210991543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Simarjit Kaur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>
              <a:latin typeface="Calibri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Demand forecasting estimates future customer demand using historical sales, trends, and external factors — critical for inventory, supply chain, and pricing decisions.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India, micro-retailers (kirana stores) form the backbone of unorganized retail but operate without formal records, relying on intuition for purchasing decisions.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resources, low technical expertise, and irregular demand patterns lead to overstocking, stockouts, and lost profits.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 UPI and digital billing adoption, transactional data is now increasingly available — opening the door to AI-driven forecasting for small retailers.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project proposes an end-to-end AI-based demand forecasting framework tailored for the micro-retail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>
              <a:latin typeface="Calibri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 a short-term demand prediction framework specifically designed for micro-retail (kirana) stores.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Compare classical statistical, classical ML, and deep learning models — ARIMA, Random Forest, and LSTM — under realistic data conditions.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 features that capture seasonality, festivals, weekly cycles, and lag-based demand signals.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 practical challenges of data scarcity, sparse demand, and cold-start problems for new SKUs.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Quantify forecasting improvement using MAE, RMSE, and MAPE against current intuition-based baselines.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 that data-driven inventory intelligence is feasible for small retailers, not just large chains.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>
              <a:latin typeface="Calibri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Classical methods (Exponential Smoothing, ARIMA) work well for stable, low-noise time series but assume linearity — limiting use in volatile retail [Box et al., Hyndman].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Tree-based ML (Random Forest, XGBoost) handles non-linear relations and rich features, often outperforming statistical baselines [Fildes et al., Chen &amp; Guestrin].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networks (Hochreiter &amp; Schmidhuber, 1997) overcome the vanishing-gradient problem of RNNs and excel at long-range temporal dependencies in sales data.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Forecasting in informal/micro-retail settings is under-studied; data is sparse, intermittent, and SKU-heterogeneous [Rajaram &amp; Tang; Boylan &amp; Syntetos].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UPI and digital billing in India now provide a usable data foundation for kirana-store analytics [Narayanan &amp; Gulati].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Transfer learning helps the cold-start problem by reusing knowledge from high-frequency SKUs [Huang et al., 2022].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>
              <a:latin typeface="Calibri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end-to-end four-stage pipeline tailored for the micro-retail environment.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Stage 1 — Data Collection &amp; Preprocessing: ingest raw UPI / digital billing logs; handle missing values, deduplication, and aggregation.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Stage 2 — Feature Engineering: build temporal, lag, festival, and seasonality features from cleaned sales data.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Stage 3 — Model Training &amp; Selection: train ARIMA, Random Forest, and LSTM in parallel; evaluate using rolling-window cross-validation.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Stage 4 — Inference &amp; Business Output: generate 7-day-ahead demand forecasts to drive inventory ordering decisions.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Pipeline flow:  Raw Sales Data  →  Preprocessing  →  Feature Engineering  →  Model Training  →  Demand Forecast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Preprocessing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>
              <a:latin typeface="Calibri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Source: digital billing and UPI transaction logs from five kirana stores in Punjab, India.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Missing-value handling: zero-fill for confirmed no-sale days; mean substitution for system-outage gaps.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Duplicate and irrelevant entries are removed to maintain data reliability.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Aggregation at daily granularity (preserves intra-week patterns) and weekly granularity (reduces noise for slow-moving SKUs).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Min-max normalisation scales all features to the [0, 1] range to prevent large-valued variables from dominating model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>
              <a:latin typeface="Calibri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Lag features: historical sales at 1-day, 7-day, and 14-day lags capture autoregressive demand signals.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Temporal features: day-of-week (cyclic sine–cosine encoding), week-of-month, and month-of-year capture periodic purchasing patterns.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Festival indicators: binary flags for Diwali, Holi, Eid, Christmas, public holidays, and local events.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Seasonality index: derived using Fourier decomposition of the training set to capture annual cycles.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Cold-start proxy: category-level sales aggregates serve as features for new SKUs until enough product-level history accumulates.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>
              <a:latin typeface="Calibri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ARIMA (statistical baseline) — order (p, d, q) selected automatically per SKU using the Akaike Information Criterion (AIC).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 Regressor (classical ML baseline) — 300 estimators, maximum depth of 15, trained on the full engineered feature set.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(proposed deep learning model) — two stacked LSTM layers (64 and 32 units), Dense output layer with linear activation.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training: Adam optimiser, learning rate 0.001, batch size 32, 100 epochs with early stopping on validation loss.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Cold-start strategy: category-level proxy forecasts for SKUs under 30 days; transfer learning by initialising LSTM weights from a high-frequency SKU model and fine-tuning.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split: 70% training, 15% validation, 15% test — held-out, time-ordered.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Hyperparameter tuning: ARIMA via per-SKU AIC minimisation; Random Forest via randomised search (50 iterations); LSTM via Bayesian optimisation (30 trials).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&amp; Dataset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>
              <a:latin typeface="Calibri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 span: 18 months of daily sales records from five kirana stores (urban and peri-urban Punjab).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Coverage: 312 unique SKUs across 7 categories — groceries, dairy, beverages, personal care, household goods, snacks, staples.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Volume: ~1.2 million transaction records after deduplication and cleaning.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Period includes Diwali 2022 and Holi 2023 festival seasons — enables evaluation under demand-spike conditions.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Hardware: Intel Core i7-12700, 32 GB RAM; LSTM accelerated on NVIDIA RTX 3060 GPU.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Stack: Python 3.10, scikit-learn 1.3 (RF), statsmodels 0.14 (ARIMA), TensorFlow 2.12 / Keras (LSTM).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Validation: rolling-window cross-validation, 90-day window, 7-day forecast horizon.</a:t>
            </a:r>
          </a:p>
        </p:txBody>
      </p:sp>
      <p:sp>
        <p:nvSpPr>
          <p:cNvPr id="300" name="EvalMetricsBox"/>
          <p:cNvSpPr txBox="1"/>
          <p:nvPr/>
        </p:nvSpPr>
        <p:spPr>
          <a:xfrm>
            <a:off x="200000" y="5980000"/>
            <a:ext cx="8744000" cy="340000"/>
          </a:xfrm>
          <a:prstGeom prst="roundRect">
            <a:avLst>
              <a:gd name="adj" fmla="val 18000"/>
            </a:avLst>
          </a:prstGeom>
          <a:solidFill>
            <a:srgbClr val="FFF4EC"/>
          </a:solidFill>
          <a:ln w="9525">
            <a:solidFill>
              <a:srgbClr val="E84016"/>
            </a:solidFill>
          </a:ln>
        </p:spPr>
        <p:txBody>
          <a:bodyPr anchor="ctr" lIns="91440" tIns="36000" rIns="91440" bIns="3600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Evaluation Metrics:  </a:t>
            </a:r>
            <a:r>
              <a:rPr lang="en-US" sz="11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MAE = (1/n) Σ |yᵢ − ŷᵢ|    •    RMSE = √[ (1/n) Σ (yᵢ − ŷᵢ)² ]    •    MAPE = (100/n) Σ |(yᵢ − ŷᵢ) / yᵢ|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— Overall Performance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450000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>
              <a:latin typeface="Calibri"/>
            </a:endParaRPr>
          </a:p>
          <a:p>
            <a:pPr marL="342900" lvl="0" indent="-228600">
              <a:lnSpc>
                <a:spcPct val="115000"/>
              </a:lnSpc>
              <a:spcBef>
                <a:spcPts val="500"/>
              </a:spcBef>
              <a:buClr>
                <a:srgbClr val="000000"/>
              </a:buClr>
              <a:buSzPts val="13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Evaluation metrics: MAE, RMSE, and MAPE — averaged across all 312 SKUs over the full 18-month period.</a:t>
            </a:r>
          </a:p>
          <a:p>
            <a:pPr marL="342900" lvl="0" indent="-228600">
              <a:lnSpc>
                <a:spcPct val="115000"/>
              </a:lnSpc>
              <a:spcBef>
                <a:spcPts val="500"/>
              </a:spcBef>
              <a:buClr>
                <a:srgbClr val="000000"/>
              </a:buClr>
              <a:buSzPts val="13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ARIMA:  MAE = 5.84,  RMSE = 8.43,  MAPE = 19.7%  (statistical baseline).</a:t>
            </a:r>
          </a:p>
          <a:p>
            <a:pPr marL="342900" lvl="0" indent="-228600">
              <a:lnSpc>
                <a:spcPct val="115000"/>
              </a:lnSpc>
              <a:spcBef>
                <a:spcPts val="500"/>
              </a:spcBef>
              <a:buClr>
                <a:srgbClr val="000000"/>
              </a:buClr>
              <a:buSzPts val="13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Forest:  MAE = 4.01,  RMSE = 5.94,  MAPE = 14.2%  (engineered features help significantly).</a:t>
            </a:r>
          </a:p>
          <a:p>
            <a:pPr marL="342900" lvl="0" indent="-228600">
              <a:lnSpc>
                <a:spcPct val="115000"/>
              </a:lnSpc>
              <a:spcBef>
                <a:spcPts val="500"/>
              </a:spcBef>
              <a:buClr>
                <a:srgbClr val="000000"/>
              </a:buClr>
              <a:buSzPts val="13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(Proposed):  MAE = 3.21,  RMSE = 4.87,  MAPE = 11.4%  — best across all three metrics.</a:t>
            </a:r>
          </a:p>
          <a:p>
            <a:pPr marL="342900" lvl="0" indent="-228600">
              <a:lnSpc>
                <a:spcPct val="115000"/>
              </a:lnSpc>
              <a:spcBef>
                <a:spcPts val="500"/>
              </a:spcBef>
              <a:buClr>
                <a:srgbClr val="000000"/>
              </a:buClr>
              <a:buSzPts val="13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reduces forecasting error by 18–25% vs ARIMA and 10–14% vs Random Forest.</a:t>
            </a:r>
          </a:p>
          <a:p>
            <a:pPr marL="342900" lvl="0" indent="-228600">
              <a:lnSpc>
                <a:spcPct val="115000"/>
              </a:lnSpc>
              <a:spcBef>
                <a:spcPts val="500"/>
              </a:spcBef>
              <a:buClr>
                <a:srgbClr val="000000"/>
              </a:buClr>
              <a:buSzPts val="13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Compared to the retailer's intuition-based baseline (~32% MAPE), even ARIMA improves accuracy substantially; LSTM nearly triples it.</a:t>
            </a:r>
          </a:p>
        </p:txBody>
      </p:sp>
      <p:pic>
        <p:nvPicPr>
          <p:cNvPr id="200" name="Fig3_Bar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000" y="1700000"/>
            <a:ext cx="4250000" cy="2178000"/>
          </a:xfrm>
          <a:prstGeom prst="rect">
            <a:avLst/>
          </a:prstGeom>
        </p:spPr>
      </p:pic>
      <p:sp>
        <p:nvSpPr>
          <p:cNvPr id="201" name="Fig3_Caption"/>
          <p:cNvSpPr txBox="1"/>
          <p:nvPr/>
        </p:nvSpPr>
        <p:spPr>
          <a:xfrm>
            <a:off x="4750000" y="3920000"/>
            <a:ext cx="4250000" cy="350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3. Model Performance Comparison Across All 312 SKUs.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— Festivals &amp; Cold-Start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4500000" cy="518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228600">
              <a:lnSpc>
                <a:spcPct val="108000"/>
              </a:lnSpc>
              <a:spcBef>
                <a:spcPts val="350"/>
              </a:spcBef>
              <a:buClr>
                <a:srgbClr val="000000"/>
              </a:buClr>
              <a:buSzPts val="13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Festival window (Diwali 2022, 5 days): demand spikes of 2.5x–4.2x baseline observed across snacks, beverages, and gift items.</a:t>
            </a:r>
          </a:p>
          <a:p>
            <a:pPr marL="342900" lvl="0" indent="-228600">
              <a:lnSpc>
                <a:spcPct val="108000"/>
              </a:lnSpc>
              <a:spcBef>
                <a:spcPts val="350"/>
              </a:spcBef>
              <a:buClr>
                <a:srgbClr val="000000"/>
              </a:buClr>
              <a:buSzPts val="13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Diwali 5-day window — model comparison (Table II):</a:t>
            </a:r>
          </a:p>
          <a:p>
            <a:pPr marL="571500" lvl="0" indent="0">
              <a:lnSpc>
                <a:spcPct val="105000"/>
              </a:lnSpc>
              <a:spcBef>
                <a:spcPts val="120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 — MAE 9.12 | RMSE 13.47 | MAPE 28.3%</a:t>
            </a:r>
          </a:p>
          <a:p>
            <a:pPr marL="571500" lvl="0" indent="0">
              <a:lnSpc>
                <a:spcPct val="105000"/>
              </a:lnSpc>
              <a:spcBef>
                <a:spcPts val="120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— MAE 6.34 | RMSE 9.11 | MAPE 18.6%</a:t>
            </a:r>
          </a:p>
          <a:p>
            <a:pPr marL="571500" lvl="0" indent="0">
              <a:lnSpc>
                <a:spcPct val="105000"/>
              </a:lnSpc>
              <a:spcBef>
                <a:spcPts val="120"/>
              </a:spcBef>
              <a:buNone/>
            </a:pPr>
            <a:r>
              <a:rPr lang="en-US" sz="115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— MAE 4.38 | RMSE 6.42 | MAPE 13.1%  (best; RMSE 31% &lt; ARIMA, 17% &lt; RF)</a:t>
            </a:r>
          </a:p>
          <a:p>
            <a:pPr marL="342900" lvl="0" indent="-228600">
              <a:lnSpc>
                <a:spcPct val="108000"/>
              </a:lnSpc>
              <a:spcBef>
                <a:spcPts val="350"/>
              </a:spcBef>
              <a:buClr>
                <a:srgbClr val="000000"/>
              </a:buClr>
              <a:buSzPts val="13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tracks festival spikes with notably lower lag, attributed to multi-step temporal context and binary festival indicators.</a:t>
            </a:r>
          </a:p>
          <a:p>
            <a:pPr marL="342900" lvl="0" indent="-228600">
              <a:lnSpc>
                <a:spcPct val="108000"/>
              </a:lnSpc>
              <a:spcBef>
                <a:spcPts val="350"/>
              </a:spcBef>
              <a:buClr>
                <a:srgbClr val="000000"/>
              </a:buClr>
              <a:buSzPts val="13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Cold-start problem (new SKUs, &lt;30 days history): unconstrained model MAPE ≈ 41%; category-level proxy reduces it to 22%.</a:t>
            </a:r>
          </a:p>
          <a:p>
            <a:pPr marL="342900" lvl="0" indent="-228600">
              <a:lnSpc>
                <a:spcPct val="108000"/>
              </a:lnSpc>
              <a:spcBef>
                <a:spcPts val="350"/>
              </a:spcBef>
              <a:buClr>
                <a:srgbClr val="000000"/>
              </a:buClr>
              <a:buSzPts val="13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After 45 days of history, fine-tuned LSTM achieves MAPE = 11.8% — close to mature high-frequency SKU performance.</a:t>
            </a:r>
          </a:p>
          <a:p>
            <a:pPr marL="342900" lvl="0" indent="-228600">
              <a:lnSpc>
                <a:spcPct val="108000"/>
              </a:lnSpc>
              <a:spcBef>
                <a:spcPts val="350"/>
              </a:spcBef>
              <a:buClr>
                <a:srgbClr val="000000"/>
              </a:buClr>
              <a:buSzPts val="13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non-festival weeks, LSTM and Random Forest perform comparably (9–13% MAPE); RF is a viable lighter-weight alternative.</a:t>
            </a:r>
          </a:p>
        </p:txBody>
      </p:sp>
      <p:pic>
        <p:nvPicPr>
          <p:cNvPr id="200" name="Fig2_SnacksRoll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000" y="1200000"/>
            <a:ext cx="4250000" cy="2110000"/>
          </a:xfrm>
          <a:prstGeom prst="rect">
            <a:avLst/>
          </a:prstGeom>
        </p:spPr>
      </p:pic>
      <p:sp>
        <p:nvSpPr>
          <p:cNvPr id="201" name="Fig2_Caption"/>
          <p:cNvSpPr txBox="1"/>
          <p:nvPr/>
        </p:nvSpPr>
        <p:spPr>
          <a:xfrm>
            <a:off x="4750000" y="3320000"/>
            <a:ext cx="4250000" cy="250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2. Actual vs. Predicted Demand — 90-Day Rolling Window (Snacks).</a:t>
            </a:r>
          </a:p>
        </p:txBody>
      </p:sp>
      <p:pic>
        <p:nvPicPr>
          <p:cNvPr id="202" name="Fig4_ColdSt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000" y="3640000"/>
            <a:ext cx="4250000" cy="2110000"/>
          </a:xfrm>
          <a:prstGeom prst="rect">
            <a:avLst/>
          </a:prstGeom>
        </p:spPr>
      </p:pic>
      <p:sp>
        <p:nvSpPr>
          <p:cNvPr id="203" name="Fig4_Caption"/>
          <p:cNvSpPr txBox="1"/>
          <p:nvPr/>
        </p:nvSpPr>
        <p:spPr>
          <a:xfrm>
            <a:off x="4750000" y="5760000"/>
            <a:ext cx="4250000" cy="250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4. Cold-Start MAPE Improvement Over Product History Length.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>
              <a:latin typeface="Calibri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Demonstrated that AI-based demand forecasting is feasible and beneficial for India's micro-retail (kirana) sector.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consistently outperforms ARIMA and Random Forest, with the largest gains during festival-driven demand spikes.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 is a practical alternative when GPU/deep-learning infrastructure is unavailable.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Cold-start mitigation via category-level proxies and transfer learning makes the framework deployable for new SKUs.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 impact: reduced stockouts, lower excess inventory cost, and better working-capital utilization for small retailers.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work — integrate weather and social-media signals; build a lightweight mobile inference app for kirana owners; extend to multi-store collaborative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34701</TotalTime>
  <Words>44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2300</cp:revision>
  <dcterms:created xsi:type="dcterms:W3CDTF">2010-04-09T07:36:15Z</dcterms:created>
  <dcterms:modified xsi:type="dcterms:W3CDTF">2026-04-28T05:25:30Z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